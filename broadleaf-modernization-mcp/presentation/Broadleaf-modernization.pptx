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  <p:sldMasterId id="2147483680" r:id="rId5"/>
  </p:sldMasterIdLst>
  <p:notesMasterIdLst>
    <p:notesMasterId r:id="rId12"/>
  </p:notesMasterIdLst>
  <p:handoutMasterIdLst>
    <p:handoutMasterId r:id="rId13"/>
  </p:handoutMasterIdLst>
  <p:sldIdLst>
    <p:sldId id="1131" r:id="rId6"/>
    <p:sldId id="1191" r:id="rId7"/>
    <p:sldId id="1198" r:id="rId8"/>
    <p:sldId id="1199" r:id="rId9"/>
    <p:sldId id="1201" r:id="rId10"/>
    <p:sldId id="1202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50A1"/>
    <a:srgbClr val="8D00FA"/>
    <a:srgbClr val="000000"/>
    <a:srgbClr val="282899"/>
    <a:srgbClr val="14144D"/>
    <a:srgbClr val="02091B"/>
    <a:srgbClr val="0B1D64"/>
    <a:srgbClr val="EA6331"/>
    <a:srgbClr val="F6AE01"/>
    <a:srgbClr val="1EBA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50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1200" y="208"/>
      </p:cViewPr>
      <p:guideLst>
        <p:guide orient="horz" pos="28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28C6D-5C37-9444-BCF2-7FFA68AA5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0FF2D-AE99-D54B-9AC7-52FAA3A4F0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B0EFF1C-F02B-0F4D-AE6E-AD4DE257C53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4DCBC-7DFF-5A4E-92EC-2144E64A2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67E34-7949-6A45-9601-697EE3C3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CE4FA1E-5F71-454A-A05C-C837428DF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278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AA58BA3-04E7-6645-892B-D65E5CFED20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FE2FB05-DA74-AB41-BBF1-14168668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552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35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7F797-5DCD-D733-2002-5F9E2330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2A868-57FD-C976-1EA0-1B0E7A3FD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1A4EB-1C23-01F1-9E3F-80D10E683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FA1DF-AC47-01E4-1944-39CB52DE65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35AF9-BB08-43F7-2A00-DFE9336A3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74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C968-7AA1-CADC-D886-B6274868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1404D-AD7B-11A0-C29A-9D93C8D01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4F8D5-6352-A4B6-6F4A-A7782217D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8322E-7A05-18E8-6AC8-D51628E6C1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394A0-8162-0202-75E4-BD020FF99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0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539A-A4C7-BFA0-8165-B74E7D4B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9686A-F63B-132B-5997-BD762BD42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F8706-0839-8A5C-BDA3-DB1DE4C81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09A31-759D-091C-378D-411B0454BA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8B759-DE70-F505-B82A-698354E1D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5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DA7A-74C0-FDF3-34AE-433E83FA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9593E-BCE7-7D27-5835-08432E0BC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CCF07-C4B8-3CEA-1B92-6B475BDFE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C22A5-97AA-C262-A003-97C086BDD1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F1A8A-255D-D6C3-8F1A-5EF7BA1DE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13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75038-2D81-5661-FE48-13862526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4FB57-E1A2-1412-CE1C-BFBCBD95D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C3426-DBA7-C478-150E-ACF4C1072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B14FC-9F2E-EF92-2E38-537EE13345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E1D04-411A-12BB-0832-D75092B0C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FB05-DA74-AB41-BBF1-141686689F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43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5CE873-6CC8-68EC-F568-F4976D044A4A}"/>
              </a:ext>
            </a:extLst>
          </p:cNvPr>
          <p:cNvSpPr/>
          <p:nvPr userDrawn="1"/>
        </p:nvSpPr>
        <p:spPr>
          <a:xfrm>
            <a:off x="0" y="-4"/>
            <a:ext cx="12206664" cy="6858003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9901CC"/>
              </a:gs>
              <a:gs pos="5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3">
              <a:solidFill>
                <a:schemeClr val="accent3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3168AAE-BB5D-404C-BE1D-189E708D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28" y="1982898"/>
            <a:ext cx="11264977" cy="1005284"/>
          </a:xfrm>
        </p:spPr>
        <p:txBody>
          <a:bodyPr anchor="ctr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06A7D-694D-F76F-89E6-D4F21CA62148}"/>
              </a:ext>
            </a:extLst>
          </p:cNvPr>
          <p:cNvCxnSpPr>
            <a:cxnSpLocks/>
          </p:cNvCxnSpPr>
          <p:nvPr userDrawn="1"/>
        </p:nvCxnSpPr>
        <p:spPr>
          <a:xfrm>
            <a:off x="606180" y="3074851"/>
            <a:ext cx="3644977" cy="0"/>
          </a:xfrm>
          <a:prstGeom prst="straightConnector1">
            <a:avLst/>
          </a:prstGeom>
          <a:ln w="1905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56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9DD3-917F-A347-8AEA-011F1143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6" y="301752"/>
            <a:ext cx="11539728" cy="960120"/>
          </a:xfrm>
        </p:spPr>
        <p:txBody>
          <a:bodyPr/>
          <a:lstStyle>
            <a:lvl1pPr>
              <a:defRPr b="1" i="0"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6C948-13AD-E54F-9BE3-400B9DB85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855" y="1261078"/>
            <a:ext cx="11542287" cy="4456847"/>
          </a:xfrm>
        </p:spPr>
        <p:txBody>
          <a:bodyPr/>
          <a:lstStyle>
            <a:lvl1pPr>
              <a:lnSpc>
                <a:spcPct val="110000"/>
              </a:lnSpc>
              <a:buClr>
                <a:srgbClr val="EA6331"/>
              </a:buClr>
              <a:buSzPct val="120000"/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spcBef>
                <a:spcPts val="500"/>
              </a:spcBef>
              <a:defRPr b="0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spcBef>
                <a:spcPts val="500"/>
              </a:spcBef>
              <a:defRPr b="0" i="1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1B312D72-348B-B960-3EE0-0B1EC106E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7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A671-A2FB-BF42-895D-B2F42C5F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2CCA9-4516-7747-837E-94DDAC209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83504"/>
          </a:xfr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E9F4C-5815-FB48-92F3-B2AB34345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83504"/>
          </a:xfr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782FB2D2-C317-D344-4E40-F37E2FFE0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8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C3EE-FD5F-F445-BF02-93FB8FB5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F6B7F3F-29E3-74FD-B760-69F75252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1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13B9BB-6B87-6746-B518-533BC2A9E80C}"/>
              </a:ext>
            </a:extLst>
          </p:cNvPr>
          <p:cNvSpPr txBox="1"/>
          <p:nvPr userDrawn="1"/>
        </p:nvSpPr>
        <p:spPr>
          <a:xfrm>
            <a:off x="10179424" y="65352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6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59F0D1-09DB-D050-86DB-507CCB9DE6D2}"/>
              </a:ext>
            </a:extLst>
          </p:cNvPr>
          <p:cNvSpPr/>
          <p:nvPr userDrawn="1"/>
        </p:nvSpPr>
        <p:spPr>
          <a:xfrm>
            <a:off x="0" y="0"/>
            <a:ext cx="12206664" cy="6545181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9901CC"/>
              </a:gs>
              <a:gs pos="5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3">
              <a:solidFill>
                <a:schemeClr val="accent3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4D7799-82EB-461F-7AA5-36C62CDD6963}"/>
              </a:ext>
            </a:extLst>
          </p:cNvPr>
          <p:cNvCxnSpPr>
            <a:cxnSpLocks/>
          </p:cNvCxnSpPr>
          <p:nvPr userDrawn="1"/>
        </p:nvCxnSpPr>
        <p:spPr>
          <a:xfrm>
            <a:off x="606180" y="3294770"/>
            <a:ext cx="3644977" cy="0"/>
          </a:xfrm>
          <a:prstGeom prst="straightConnector1">
            <a:avLst/>
          </a:prstGeom>
          <a:ln w="1905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A28FDF5-FE7F-4246-84C0-E44335C9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05" y="2208720"/>
            <a:ext cx="11088515" cy="1005840"/>
          </a:xfrm>
        </p:spPr>
        <p:txBody>
          <a:bodyPr anchor="ctr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F36FDD75-1CB5-A7E9-1634-FC2A36448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07537" y="6220918"/>
            <a:ext cx="2069670" cy="4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C8BE-9F2F-0F4D-BFB2-B7206C61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4" y="319914"/>
            <a:ext cx="4862344" cy="1335024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33BB6-0917-D440-A56F-1F6930B05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319914"/>
            <a:ext cx="6664406" cy="58242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4D143-7805-6143-8349-E07ED98A3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844" y="1654939"/>
            <a:ext cx="4862344" cy="4489188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16B5D3-49B9-0810-43F2-2639E3B30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6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5CE873-6CC8-68EC-F568-F4976D044A4A}"/>
              </a:ext>
            </a:extLst>
          </p:cNvPr>
          <p:cNvSpPr/>
          <p:nvPr userDrawn="1"/>
        </p:nvSpPr>
        <p:spPr>
          <a:xfrm>
            <a:off x="0" y="-4"/>
            <a:ext cx="12206664" cy="6858003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9901CC"/>
              </a:gs>
              <a:gs pos="5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3">
              <a:solidFill>
                <a:schemeClr val="accent3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3168AAE-BB5D-404C-BE1D-189E708D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28" y="1982898"/>
            <a:ext cx="11264977" cy="100528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06A7D-694D-F76F-89E6-D4F21CA62148}"/>
              </a:ext>
            </a:extLst>
          </p:cNvPr>
          <p:cNvCxnSpPr>
            <a:cxnSpLocks/>
          </p:cNvCxnSpPr>
          <p:nvPr userDrawn="1"/>
        </p:nvCxnSpPr>
        <p:spPr>
          <a:xfrm>
            <a:off x="606180" y="3074851"/>
            <a:ext cx="3644977" cy="0"/>
          </a:xfrm>
          <a:prstGeom prst="straightConnector1">
            <a:avLst/>
          </a:prstGeom>
          <a:ln w="1905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001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9DD3-917F-A347-8AEA-011F1143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6" y="301752"/>
            <a:ext cx="11539728" cy="96012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6C948-13AD-E54F-9BE3-400B9DB85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855" y="1261078"/>
            <a:ext cx="11542287" cy="4456847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buClr>
                <a:srgbClr val="EA6331"/>
              </a:buClr>
              <a:buSzPct val="120000"/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spcBef>
                <a:spcPts val="500"/>
              </a:spcBef>
              <a:defRPr b="0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spcBef>
                <a:spcPts val="500"/>
              </a:spcBef>
              <a:defRPr b="0" i="1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 b="0" i="0"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1B312D72-348B-B960-3EE0-0B1EC106E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A671-A2FB-BF42-895D-B2F42C5F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303482"/>
            <a:ext cx="11541968" cy="960120"/>
          </a:xfrm>
          <a:prstGeom prst="rect">
            <a:avLst/>
          </a:prstGeo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2CCA9-4516-7747-837E-94DDAC209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83504"/>
          </a:xfrm>
          <a:prstGeom prst="rect">
            <a:avLst/>
          </a:prstGeo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E9F4C-5815-FB48-92F3-B2AB34345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83504"/>
          </a:xfrm>
          <a:prstGeom prst="rect">
            <a:avLst/>
          </a:prstGeo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2pPr>
            <a:lvl3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3pPr>
            <a:lvl4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4pPr>
            <a:lvl5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782FB2D2-C317-D344-4E40-F37E2FFE0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4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C3EE-FD5F-F445-BF02-93FB8FB5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303482"/>
            <a:ext cx="11541968" cy="960120"/>
          </a:xfrm>
          <a:prstGeom prst="rect">
            <a:avLst/>
          </a:prstGeom>
        </p:spPr>
        <p:txBody>
          <a:bodyPr/>
          <a:lstStyle>
            <a:lvl1pPr>
              <a:defRPr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F6B7F3F-29E3-74FD-B760-69F75252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50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13B9BB-6B87-6746-B518-533BC2A9E80C}"/>
              </a:ext>
            </a:extLst>
          </p:cNvPr>
          <p:cNvSpPr txBox="1"/>
          <p:nvPr userDrawn="1"/>
        </p:nvSpPr>
        <p:spPr>
          <a:xfrm>
            <a:off x="10179424" y="65352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26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59F0D1-09DB-D050-86DB-507CCB9DE6D2}"/>
              </a:ext>
            </a:extLst>
          </p:cNvPr>
          <p:cNvSpPr/>
          <p:nvPr userDrawn="1"/>
        </p:nvSpPr>
        <p:spPr>
          <a:xfrm>
            <a:off x="0" y="0"/>
            <a:ext cx="12206664" cy="6545181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9901CC"/>
              </a:gs>
              <a:gs pos="5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33">
              <a:solidFill>
                <a:schemeClr val="accent3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4D7799-82EB-461F-7AA5-36C62CDD6963}"/>
              </a:ext>
            </a:extLst>
          </p:cNvPr>
          <p:cNvCxnSpPr>
            <a:cxnSpLocks/>
          </p:cNvCxnSpPr>
          <p:nvPr userDrawn="1"/>
        </p:nvCxnSpPr>
        <p:spPr>
          <a:xfrm>
            <a:off x="606180" y="3294770"/>
            <a:ext cx="3644977" cy="0"/>
          </a:xfrm>
          <a:prstGeom prst="straightConnector1">
            <a:avLst/>
          </a:prstGeom>
          <a:ln w="19050">
            <a:solidFill>
              <a:schemeClr val="accent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A28FDF5-FE7F-4246-84C0-E44335C9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05" y="2208720"/>
            <a:ext cx="11088515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400" b="1" i="0">
                <a:solidFill>
                  <a:schemeClr val="bg1"/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F36FDD75-1CB5-A7E9-1634-FC2A36448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07537" y="6220918"/>
            <a:ext cx="2069670" cy="4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44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C8BE-9F2F-0F4D-BFB2-B7206C61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4" y="319914"/>
            <a:ext cx="4862344" cy="1335024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33BB6-0917-D440-A56F-1F6930B05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319914"/>
            <a:ext cx="6664406" cy="58242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4D143-7805-6143-8349-E07ED98A3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0844" y="1654939"/>
            <a:ext cx="4862344" cy="44891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9E16B5D3-49B9-0810-43F2-2639E3B30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lvl1pPr algn="l">
              <a:defRPr b="1" i="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Semibold" panose="020B0503030403020204" pitchFamily="34" charset="0"/>
                <a:cs typeface="Prompt" panose="00000500000000000000" pitchFamily="2" charset="-34"/>
              </a:defRPr>
            </a:lvl1pPr>
          </a:lstStyle>
          <a:p>
            <a:fld id="{AAD4930F-C0A8-4B41-B11A-B03B56213C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0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EB245-7C23-E141-9F05-20B9001C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303482"/>
            <a:ext cx="11541968" cy="960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E1ABA-2332-334D-989B-6378012C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845" y="1263602"/>
            <a:ext cx="11541967" cy="4880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58FAF6B-4360-694D-B007-1C42A0792E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5265" r="10372"/>
          <a:stretch/>
        </p:blipFill>
        <p:spPr>
          <a:xfrm>
            <a:off x="0" y="-174576"/>
            <a:ext cx="12192000" cy="70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7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Clr>
          <a:srgbClr val="8D00FA"/>
        </a:buClr>
        <a:buNone/>
        <a:defRPr sz="3200" b="1" i="0" kern="1200">
          <a:solidFill>
            <a:schemeClr val="bg2"/>
          </a:solidFill>
          <a:latin typeface="Archivo" pitchFamily="2" charset="77"/>
          <a:ea typeface="Archivo" pitchFamily="2" charset="77"/>
          <a:cs typeface="Archivo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8D00FA"/>
        </a:buClr>
        <a:buSzPct val="120000"/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rchivo" pitchFamily="2" charset="77"/>
          <a:ea typeface="Archivo" pitchFamily="2" charset="77"/>
          <a:cs typeface="Archivo" pitchFamily="2" charset="77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8D00FA"/>
        </a:buClr>
        <a:buFont typeface="Arial" panose="020B0604020202020204" pitchFamily="34" charset="0"/>
        <a:buChar char="•"/>
        <a:defRPr sz="2000" b="0" i="0" kern="1200">
          <a:solidFill>
            <a:schemeClr val="bg2">
              <a:lumMod val="90000"/>
            </a:schemeClr>
          </a:solidFill>
          <a:latin typeface="Archivo" pitchFamily="2" charset="77"/>
          <a:ea typeface="Archivo" pitchFamily="2" charset="77"/>
          <a:cs typeface="Archivo" pitchFamily="2" charset="77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8D00FA"/>
        </a:buClr>
        <a:buFont typeface="Arial" panose="020B0604020202020204" pitchFamily="34" charset="0"/>
        <a:buChar char="•"/>
        <a:defRPr sz="2000" b="0" i="1" kern="1200">
          <a:solidFill>
            <a:schemeClr val="bg2">
              <a:lumMod val="90000"/>
            </a:schemeClr>
          </a:solidFill>
          <a:latin typeface="Archivo" pitchFamily="2" charset="77"/>
          <a:ea typeface="Archivo" pitchFamily="2" charset="77"/>
          <a:cs typeface="Archivo" pitchFamily="2" charset="77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8D00FA"/>
        </a:buClr>
        <a:buFont typeface="Arial" panose="020B0604020202020204" pitchFamily="34" charset="0"/>
        <a:buChar char="•"/>
        <a:defRPr sz="1600" b="0" i="0" kern="1200">
          <a:solidFill>
            <a:schemeClr val="bg2">
              <a:lumMod val="75000"/>
            </a:schemeClr>
          </a:solidFill>
          <a:latin typeface="Archivo" pitchFamily="2" charset="77"/>
          <a:ea typeface="Archivo" pitchFamily="2" charset="77"/>
          <a:cs typeface="Archivo" pitchFamily="2" charset="77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rgbClr val="8D00FA"/>
        </a:buClr>
        <a:buFont typeface="Arial" panose="020B0604020202020204" pitchFamily="34" charset="0"/>
        <a:buChar char="•"/>
        <a:defRPr sz="1600" b="0" i="0" kern="1200">
          <a:solidFill>
            <a:schemeClr val="bg2">
              <a:lumMod val="75000"/>
            </a:schemeClr>
          </a:solidFill>
          <a:latin typeface="Archivo" pitchFamily="2" charset="77"/>
          <a:ea typeface="Archivo" pitchFamily="2" charset="77"/>
          <a:cs typeface="Archivo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58FAF6B-4360-694D-B007-1C42A0792E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5265" r="10372"/>
          <a:stretch/>
        </p:blipFill>
        <p:spPr>
          <a:xfrm rot="10800000">
            <a:off x="0" y="-174576"/>
            <a:ext cx="12192000" cy="70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0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2"/>
          </a:solidFill>
          <a:latin typeface="Prompt" panose="00000500000000000000" pitchFamily="2" charset="-34"/>
          <a:ea typeface="Source Sans Pro Semibold" panose="020B0503030403020204" pitchFamily="34" charset="0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rgbClr val="EA6331"/>
        </a:buClr>
        <a:buSzPct val="120000"/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Prompt" panose="00000500000000000000" pitchFamily="2" charset="-34"/>
          <a:ea typeface="Source Sans Pro" panose="020B0503030403020204" pitchFamily="34" charset="0"/>
          <a:cs typeface="Prompt" panose="00000500000000000000" pitchFamily="2" charset="-34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>
              <a:lumMod val="90000"/>
            </a:schemeClr>
          </a:solidFill>
          <a:latin typeface="Prompt" panose="00000500000000000000" pitchFamily="2" charset="-34"/>
          <a:ea typeface="Source Sans Pro Light" panose="020B0403030403020204" pitchFamily="34" charset="0"/>
          <a:cs typeface="Prompt" pitchFamily="2" charset="-34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b="0" i="1" kern="1200">
          <a:solidFill>
            <a:schemeClr val="bg2">
              <a:lumMod val="90000"/>
            </a:schemeClr>
          </a:solidFill>
          <a:latin typeface="Prompt" panose="00000500000000000000" pitchFamily="2" charset="-34"/>
          <a:ea typeface="Source Sans Pro Light" panose="020B0403030403020204" pitchFamily="34" charset="0"/>
          <a:cs typeface="Prompt" pitchFamily="2" charset="-34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2">
              <a:lumMod val="75000"/>
            </a:schemeClr>
          </a:solidFill>
          <a:latin typeface="Prompt" panose="00000500000000000000" pitchFamily="2" charset="-34"/>
          <a:ea typeface="Source Sans Pro" panose="020B0503030403020204" pitchFamily="34" charset="0"/>
          <a:cs typeface="Prompt" pitchFamily="2" charset="-34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2">
              <a:lumMod val="75000"/>
            </a:schemeClr>
          </a:solidFill>
          <a:latin typeface="Prompt" panose="00000500000000000000" pitchFamily="2" charset="-34"/>
          <a:ea typeface="Source Sans Pro" panose="020B0503030403020204" pitchFamily="34" charset="0"/>
          <a:cs typeface="Prompt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EE77EC-DB2F-3F5A-293F-66A26607D2AA}"/>
              </a:ext>
            </a:extLst>
          </p:cNvPr>
          <p:cNvSpPr txBox="1">
            <a:spLocks/>
          </p:cNvSpPr>
          <p:nvPr/>
        </p:nvSpPr>
        <p:spPr>
          <a:xfrm>
            <a:off x="324856" y="301752"/>
            <a:ext cx="11539728" cy="11447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rgbClr val="8D00FA"/>
              </a:buClr>
              <a:buNone/>
              <a:defRPr sz="3200" b="1" i="0" kern="1200">
                <a:solidFill>
                  <a:schemeClr val="bg2"/>
                </a:solidFill>
                <a:latin typeface="Archivo" pitchFamily="2" charset="77"/>
                <a:ea typeface="Archivo" pitchFamily="2" charset="77"/>
                <a:cs typeface="Archivo" pitchFamily="2" charset="77"/>
              </a:defRPr>
            </a:lvl1pPr>
          </a:lstStyle>
          <a:p>
            <a:r>
              <a:rPr lang="en-US" sz="2900" dirty="0"/>
              <a:t>From Technical Debt to Action</a:t>
            </a:r>
          </a:p>
          <a:p>
            <a:r>
              <a:rPr lang="en-US" sz="2900" dirty="0"/>
              <a:t>An Agentic Workflow for Enterprise Application Modernization</a:t>
            </a:r>
          </a:p>
          <a:p>
            <a:r>
              <a:rPr lang="en-US" sz="1200" dirty="0"/>
              <a:t>Using application context, MCP, and AI to transform modernization analysis into actionable work.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2CC06-8DDA-02A9-56F4-39ED4495AD10}"/>
              </a:ext>
            </a:extLst>
          </p:cNvPr>
          <p:cNvSpPr txBox="1"/>
          <p:nvPr/>
        </p:nvSpPr>
        <p:spPr>
          <a:xfrm>
            <a:off x="3781243" y="6248471"/>
            <a:ext cx="68737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Broadleaf Commerce | MCP | AI Agent | GitHub Workflow Automation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CAF0C-ED5A-EE9C-EA70-A25FA1338D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" t="1482" r="228" b="40179"/>
          <a:stretch>
            <a:fillRect/>
          </a:stretch>
        </p:blipFill>
        <p:spPr>
          <a:xfrm>
            <a:off x="519883" y="2027994"/>
            <a:ext cx="4275907" cy="3841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C5D4F-D4A8-9E66-43E5-FCAF617A8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347" y="2020934"/>
            <a:ext cx="2825087" cy="38557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8EC21B-C160-89DC-9CE4-377CC99A9356}"/>
              </a:ext>
            </a:extLst>
          </p:cNvPr>
          <p:cNvSpPr txBox="1"/>
          <p:nvPr/>
        </p:nvSpPr>
        <p:spPr>
          <a:xfrm>
            <a:off x="324856" y="1475656"/>
            <a:ext cx="3084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Technical Debt     </a:t>
            </a:r>
            <a:r>
              <a:rPr lang="en-US" sz="2000" b="1" dirty="0">
                <a:solidFill>
                  <a:schemeClr val="bg1"/>
                </a:solidFill>
                <a:sym typeface="Wingdings" pitchFamily="2" charset="2"/>
              </a:rPr>
              <a:t>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sym typeface="Wingdings" pitchFamily="2" charset="2"/>
              </a:rPr>
              <a:t>Dependency &amp; vulnerability data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1232D4-0ADF-6232-DE6E-F3F5B77D5468}"/>
              </a:ext>
            </a:extLst>
          </p:cNvPr>
          <p:cNvSpPr txBox="1"/>
          <p:nvPr/>
        </p:nvSpPr>
        <p:spPr>
          <a:xfrm>
            <a:off x="9185363" y="1472126"/>
            <a:ext cx="21977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Actionable Outcome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Automated backlog creation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201BC7-5E74-94A5-3344-2873314C7EFA}"/>
              </a:ext>
            </a:extLst>
          </p:cNvPr>
          <p:cNvSpPr txBox="1"/>
          <p:nvPr/>
        </p:nvSpPr>
        <p:spPr>
          <a:xfrm>
            <a:off x="4838732" y="1476265"/>
            <a:ext cx="4015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Agentic Analysis    </a:t>
            </a:r>
            <a:r>
              <a:rPr lang="en-US" sz="2000" b="1" dirty="0">
                <a:solidFill>
                  <a:schemeClr val="bg1"/>
                </a:solidFill>
                <a:sym typeface="Wingdings" pitchFamily="2" charset="2"/>
              </a:rPr>
              <a:t>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sym typeface="Wingdings" pitchFamily="2" charset="2"/>
              </a:rPr>
              <a:t>Context-aware modernization recommendations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AB378E-657D-4A7F-60BE-29385F3C5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480" y="2027994"/>
            <a:ext cx="3898177" cy="38588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0817FD3-A617-411F-C705-96FA413B9352}"/>
              </a:ext>
            </a:extLst>
          </p:cNvPr>
          <p:cNvSpPr txBox="1"/>
          <p:nvPr/>
        </p:nvSpPr>
        <p:spPr>
          <a:xfrm>
            <a:off x="519883" y="6186916"/>
            <a:ext cx="350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fld id="{AAD4930F-C0A8-4B41-B11A-B03B56213C15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3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C574-0D8D-D650-5273-5D864171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47BA6A1-EC51-58E8-1559-EE5FEA8C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6" y="301752"/>
            <a:ext cx="11539728" cy="647482"/>
          </a:xfrm>
        </p:spPr>
        <p:txBody>
          <a:bodyPr>
            <a:normAutofit/>
          </a:bodyPr>
          <a:lstStyle/>
          <a:p>
            <a:r>
              <a:rPr lang="en-US" dirty="0"/>
              <a:t>Enterprise Modernization Challenges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F0E9EE-E219-854A-EB75-76ED77CF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3442" y="1010196"/>
            <a:ext cx="5771142" cy="373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Enterprise teams face a common challenge:</a:t>
            </a:r>
          </a:p>
          <a:p>
            <a:r>
              <a:rPr lang="en-US" sz="2000" dirty="0"/>
              <a:t>Large, complex applications built and evolved over years of development</a:t>
            </a:r>
          </a:p>
          <a:p>
            <a:r>
              <a:rPr lang="en-US" sz="2000" dirty="0"/>
              <a:t>Outdated frameworks and dependencies </a:t>
            </a:r>
          </a:p>
          <a:p>
            <a:r>
              <a:rPr lang="en-US" sz="2000" dirty="0"/>
              <a:t>Limited visibility into modernization priorities </a:t>
            </a:r>
          </a:p>
          <a:p>
            <a:r>
              <a:rPr lang="en-US" sz="2000" dirty="0"/>
              <a:t>Pressure to adopt AI while maintaining confidence in the results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E9B0AF0-2E3F-0FBF-2A9E-90C80516E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6350268"/>
            <a:ext cx="5172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AD4930F-C0A8-4B41-B11A-B03B56213C1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F5D433-8EE6-F60D-4D6E-C1466C42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3" y="1010194"/>
            <a:ext cx="5771142" cy="526868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49A03F-02DF-96E2-4C43-D5F569D409EA}"/>
              </a:ext>
            </a:extLst>
          </p:cNvPr>
          <p:cNvSpPr txBox="1">
            <a:spLocks/>
          </p:cNvSpPr>
          <p:nvPr/>
        </p:nvSpPr>
        <p:spPr>
          <a:xfrm>
            <a:off x="6093442" y="4635138"/>
            <a:ext cx="5771142" cy="13911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Archivo" pitchFamily="2" charset="77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8D00FA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Archivo" pitchFamily="2" charset="77"/>
                <a:cs typeface="Prompt" panose="00000500000000000000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8D00FA"/>
              </a:buClr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Archivo" pitchFamily="2" charset="77"/>
                <a:cs typeface="Prompt" panose="00000500000000000000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8D00FA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Archivo" pitchFamily="2" charset="77"/>
                <a:cs typeface="Prompt" panose="00000500000000000000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8D00FA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Archivo" pitchFamily="2" charset="77"/>
                <a:cs typeface="Prompt" panose="00000500000000000000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The challenge is not identifying technical debt. The challenge is determining where to start and how to take action.</a:t>
            </a:r>
          </a:p>
        </p:txBody>
      </p:sp>
    </p:spTree>
    <p:extLst>
      <p:ext uri="{BB962C8B-B14F-4D97-AF65-F5344CB8AC3E}">
        <p14:creationId xmlns:p14="http://schemas.microsoft.com/office/powerpoint/2010/main" val="409428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86DFB-20A7-B51E-D734-6D9C6E4A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018A5-FF76-3FA3-EC9C-96C19A37234E}"/>
              </a:ext>
            </a:extLst>
          </p:cNvPr>
          <p:cNvSpPr txBox="1"/>
          <p:nvPr/>
        </p:nvSpPr>
        <p:spPr>
          <a:xfrm>
            <a:off x="440930" y="173559"/>
            <a:ext cx="11082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Why Traditional AI Falls Short</a:t>
            </a:r>
            <a:endParaRPr lang="en-US" sz="24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FE441-5FE9-A39C-3421-2596824DB1E8}"/>
              </a:ext>
            </a:extLst>
          </p:cNvPr>
          <p:cNvSpPr txBox="1"/>
          <p:nvPr/>
        </p:nvSpPr>
        <p:spPr>
          <a:xfrm>
            <a:off x="329183" y="570449"/>
            <a:ext cx="11540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AI can generate code and answer questions, but enterprise applications require more than source code alone.</a:t>
            </a:r>
          </a:p>
          <a:p>
            <a:endParaRPr lang="en-US" sz="24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FE1D0F-36EE-0C26-383E-A37EBA0ACF81}"/>
              </a:ext>
            </a:extLst>
          </p:cNvPr>
          <p:cNvSpPr txBox="1">
            <a:spLocks/>
          </p:cNvSpPr>
          <p:nvPr/>
        </p:nvSpPr>
        <p:spPr>
          <a:xfrm>
            <a:off x="5686408" y="1894360"/>
            <a:ext cx="4543988" cy="19896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374F7-DE97-ED71-ACF6-F62DE3836E4E}"/>
              </a:ext>
            </a:extLst>
          </p:cNvPr>
          <p:cNvSpPr txBox="1"/>
          <p:nvPr/>
        </p:nvSpPr>
        <p:spPr>
          <a:xfrm>
            <a:off x="5336939" y="1062931"/>
            <a:ext cx="21771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Traditional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Source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General Knowledge 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↓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54E4B6-A7DC-BEC1-4040-2A7DE336BFD2}"/>
              </a:ext>
            </a:extLst>
          </p:cNvPr>
          <p:cNvSpPr txBox="1"/>
          <p:nvPr/>
        </p:nvSpPr>
        <p:spPr>
          <a:xfrm>
            <a:off x="8569745" y="1062931"/>
            <a:ext cx="32930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Context-Aware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Source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Application Context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Dependencies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Business Knowledge </a:t>
            </a: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</a:rPr>
              <a:t>↓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Actionable Recommendation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8911001B-2B06-52BD-059A-C08AB5D07418}"/>
              </a:ext>
            </a:extLst>
          </p:cNvPr>
          <p:cNvSpPr txBox="1">
            <a:spLocks/>
          </p:cNvSpPr>
          <p:nvPr/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AAD4930F-C0A8-4B41-B11A-B03B56213C15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DA63AC-FEE4-E280-FAD1-A1670AFB19DE}"/>
              </a:ext>
            </a:extLst>
          </p:cNvPr>
          <p:cNvSpPr txBox="1"/>
          <p:nvPr/>
        </p:nvSpPr>
        <p:spPr>
          <a:xfrm>
            <a:off x="212046" y="5682070"/>
            <a:ext cx="11540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AI is most effective when it has access to application specific context.</a:t>
            </a:r>
          </a:p>
          <a:p>
            <a:endParaRPr lang="en-US" sz="24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B2DF5DC-87F2-E922-366A-4D87418A8273}"/>
              </a:ext>
            </a:extLst>
          </p:cNvPr>
          <p:cNvSpPr txBox="1">
            <a:spLocks/>
          </p:cNvSpPr>
          <p:nvPr/>
        </p:nvSpPr>
        <p:spPr>
          <a:xfrm>
            <a:off x="329183" y="1062931"/>
            <a:ext cx="4017859" cy="426273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Challenges</a:t>
            </a:r>
          </a:p>
          <a:p>
            <a:r>
              <a:rPr lang="en-US" sz="1800" b="1" dirty="0">
                <a:latin typeface="+mn-lt"/>
              </a:rPr>
              <a:t>Limited Application Understanding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AI can read code but does not automatically understand architecture, dependencies, or business processes. </a:t>
            </a: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Lack of Organizational Context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Critical information often exists outside the repository, in documentation, tribal knowledge, and operational workflows. </a:t>
            </a: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Uncertain Modernization Priorities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AI can suggest changes, but determining where to start and what matters most remains difficult. </a:t>
            </a:r>
          </a:p>
          <a:p>
            <a:pPr marL="0" indent="0">
              <a:buNone/>
            </a:pPr>
            <a:r>
              <a:rPr lang="en-US" sz="1800" b="1" dirty="0">
                <a:latin typeface="+mn-lt"/>
              </a:rPr>
              <a:t>Risk of Generic Recommendations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Without context, recommendations are based on patterns rather than facts specific to the application. </a:t>
            </a:r>
          </a:p>
        </p:txBody>
      </p:sp>
    </p:spTree>
    <p:extLst>
      <p:ext uri="{BB962C8B-B14F-4D97-AF65-F5344CB8AC3E}">
        <p14:creationId xmlns:p14="http://schemas.microsoft.com/office/powerpoint/2010/main" val="58160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781ED-A210-E575-26B1-2DBF2ABA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4F5199-2165-9EDC-A242-EB3E99BD38B7}"/>
              </a:ext>
            </a:extLst>
          </p:cNvPr>
          <p:cNvSpPr txBox="1"/>
          <p:nvPr/>
        </p:nvSpPr>
        <p:spPr>
          <a:xfrm>
            <a:off x="440930" y="293657"/>
            <a:ext cx="11082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Agentic Modernization Workflow</a:t>
            </a:r>
            <a:endParaRPr lang="en-US" sz="24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AC332-7CFB-EB07-2315-42F40DD6AD2B}"/>
              </a:ext>
            </a:extLst>
          </p:cNvPr>
          <p:cNvSpPr txBox="1"/>
          <p:nvPr/>
        </p:nvSpPr>
        <p:spPr>
          <a:xfrm>
            <a:off x="351093" y="5873874"/>
            <a:ext cx="1148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Context enables AI to produce evidence-based modernization recommendations and actionable outcomes</a:t>
            </a:r>
            <a:r>
              <a:rPr lang="en-US" sz="20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818E36-B1F6-C1C2-15F8-985D40BEA72C}"/>
              </a:ext>
            </a:extLst>
          </p:cNvPr>
          <p:cNvSpPr txBox="1">
            <a:spLocks/>
          </p:cNvSpPr>
          <p:nvPr/>
        </p:nvSpPr>
        <p:spPr>
          <a:xfrm>
            <a:off x="440930" y="969277"/>
            <a:ext cx="4705836" cy="469064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+mn-lt"/>
              </a:rPr>
              <a:t>Enterprise Application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Application Context -Architecture, dependencies, modernization findings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MCP - Secure access to application-specific context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AI Agent - Analyze findings and prioritize work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Modernization Recommendation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        ↓</a:t>
            </a: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Actionable Work Item - Create actionable modernization backlog entries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FEFAF6-ECD2-2371-55BA-F8EC966FF422}"/>
              </a:ext>
            </a:extLst>
          </p:cNvPr>
          <p:cNvSpPr txBox="1">
            <a:spLocks/>
          </p:cNvSpPr>
          <p:nvPr/>
        </p:nvSpPr>
        <p:spPr>
          <a:xfrm>
            <a:off x="5686408" y="1894360"/>
            <a:ext cx="4543988" cy="42627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48DC1-CB60-A039-207F-FDBA6C67ED9E}"/>
              </a:ext>
            </a:extLst>
          </p:cNvPr>
          <p:cNvSpPr txBox="1"/>
          <p:nvPr/>
        </p:nvSpPr>
        <p:spPr>
          <a:xfrm>
            <a:off x="6755530" y="969277"/>
            <a:ext cx="327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Demo Environment:</a:t>
            </a:r>
            <a:endParaRPr lang="en-US" sz="16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7556A7-8235-5F56-4D04-184AB380B7BF}"/>
              </a:ext>
            </a:extLst>
          </p:cNvPr>
          <p:cNvSpPr txBox="1">
            <a:spLocks/>
          </p:cNvSpPr>
          <p:nvPr/>
        </p:nvSpPr>
        <p:spPr>
          <a:xfrm>
            <a:off x="6755530" y="1297635"/>
            <a:ext cx="3273480" cy="42627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+mn-lt"/>
              </a:rPr>
              <a:t>Enterprise Application: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Broadleaf Commerce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Application Context: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Architecture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Dependencies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Modernization Findings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Agent: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Cursor + Claude</a:t>
            </a:r>
            <a:br>
              <a:rPr lang="en-US" sz="1600" dirty="0">
                <a:latin typeface="+mn-lt"/>
              </a:rPr>
            </a:b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Action: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GitHub Issues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F22E2A3-7600-21FA-E6EB-94B297F1907A}"/>
              </a:ext>
            </a:extLst>
          </p:cNvPr>
          <p:cNvSpPr txBox="1">
            <a:spLocks/>
          </p:cNvSpPr>
          <p:nvPr/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AAD4930F-C0A8-4B41-B11A-B03B56213C15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82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AABEF-E33D-806E-2DAA-3910CA12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CE05A-7D92-02FD-C748-73345E1307F4}"/>
              </a:ext>
            </a:extLst>
          </p:cNvPr>
          <p:cNvSpPr txBox="1"/>
          <p:nvPr/>
        </p:nvSpPr>
        <p:spPr>
          <a:xfrm>
            <a:off x="388679" y="2967335"/>
            <a:ext cx="1108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Demo</a:t>
            </a:r>
            <a:endParaRPr lang="en-US" sz="32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AB950B-ADDD-8936-56B9-25F7EE8CF2BF}"/>
              </a:ext>
            </a:extLst>
          </p:cNvPr>
          <p:cNvSpPr txBox="1">
            <a:spLocks/>
          </p:cNvSpPr>
          <p:nvPr/>
        </p:nvSpPr>
        <p:spPr>
          <a:xfrm>
            <a:off x="5686408" y="1894360"/>
            <a:ext cx="4543988" cy="42627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0061066-65EC-69DE-F435-80BAFE977912}"/>
              </a:ext>
            </a:extLst>
          </p:cNvPr>
          <p:cNvSpPr txBox="1">
            <a:spLocks/>
          </p:cNvSpPr>
          <p:nvPr/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AAD4930F-C0A8-4B41-B11A-B03B56213C15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35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4D411-F1D4-2703-7FF2-EBD0EE71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6396E-5C8F-D7DA-2C5D-A9EEB0D5EA19}"/>
              </a:ext>
            </a:extLst>
          </p:cNvPr>
          <p:cNvSpPr txBox="1"/>
          <p:nvPr/>
        </p:nvSpPr>
        <p:spPr>
          <a:xfrm>
            <a:off x="414804" y="239245"/>
            <a:ext cx="11082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Business Outcomes:</a:t>
            </a:r>
            <a:endParaRPr lang="en-US" sz="24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0CDC3C-6500-C0A6-7029-E13D353D75EE}"/>
              </a:ext>
            </a:extLst>
          </p:cNvPr>
          <p:cNvSpPr txBox="1">
            <a:spLocks/>
          </p:cNvSpPr>
          <p:nvPr/>
        </p:nvSpPr>
        <p:spPr>
          <a:xfrm>
            <a:off x="506040" y="1257103"/>
            <a:ext cx="3273480" cy="25577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Faster Modernization Planning</a:t>
            </a:r>
            <a:endParaRPr lang="en-US" sz="1800" b="1" dirty="0">
              <a:latin typeface="+mn-lt"/>
            </a:endParaRPr>
          </a:p>
          <a:p>
            <a:r>
              <a:rPr lang="en-US" sz="1800" dirty="0">
                <a:latin typeface="+mn-lt"/>
              </a:rPr>
              <a:t>Identify priorities faster </a:t>
            </a:r>
          </a:p>
          <a:p>
            <a:r>
              <a:rPr lang="en-US" sz="1800" dirty="0">
                <a:latin typeface="+mn-lt"/>
              </a:rPr>
              <a:t>Create actionable modernization plans 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D4EB6B-4FFD-F15B-CE63-26BF872DD7D6}"/>
              </a:ext>
            </a:extLst>
          </p:cNvPr>
          <p:cNvSpPr txBox="1">
            <a:spLocks/>
          </p:cNvSpPr>
          <p:nvPr/>
        </p:nvSpPr>
        <p:spPr>
          <a:xfrm>
            <a:off x="5686408" y="1894360"/>
            <a:ext cx="4543988" cy="42627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9232-6DDD-1CA4-2390-8483E7C7DEB1}"/>
              </a:ext>
            </a:extLst>
          </p:cNvPr>
          <p:cNvSpPr txBox="1"/>
          <p:nvPr/>
        </p:nvSpPr>
        <p:spPr>
          <a:xfrm>
            <a:off x="506040" y="691419"/>
            <a:ext cx="11082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Turning application context into actionable modernization decisions</a:t>
            </a:r>
            <a:endParaRPr lang="en-US" sz="20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887D0C-6E41-9FD6-8026-39C669F8628F}"/>
              </a:ext>
            </a:extLst>
          </p:cNvPr>
          <p:cNvSpPr txBox="1">
            <a:spLocks/>
          </p:cNvSpPr>
          <p:nvPr/>
        </p:nvSpPr>
        <p:spPr>
          <a:xfrm>
            <a:off x="506040" y="3599320"/>
            <a:ext cx="3273480" cy="25577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More Informed AI Recommendations</a:t>
            </a:r>
          </a:p>
          <a:p>
            <a:r>
              <a:rPr lang="en-US" sz="1800" dirty="0">
                <a:latin typeface="+mn-lt"/>
              </a:rPr>
              <a:t>Ground recommendations in application facts </a:t>
            </a:r>
          </a:p>
          <a:p>
            <a:r>
              <a:rPr lang="en-US" sz="1800" dirty="0">
                <a:latin typeface="+mn-lt"/>
              </a:rPr>
              <a:t>Reduce reliance on generalized patterns </a:t>
            </a:r>
          </a:p>
          <a:p>
            <a:pPr marL="0" indent="0">
              <a:buNone/>
            </a:pPr>
            <a:endParaRPr lang="en-US" sz="1800" dirty="0">
              <a:latin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9BAD72-A066-C11A-9767-3CE83A06825B}"/>
              </a:ext>
            </a:extLst>
          </p:cNvPr>
          <p:cNvSpPr txBox="1">
            <a:spLocks/>
          </p:cNvSpPr>
          <p:nvPr/>
        </p:nvSpPr>
        <p:spPr>
          <a:xfrm>
            <a:off x="8315392" y="1257103"/>
            <a:ext cx="3273480" cy="25577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Reduced Modernization Risk</a:t>
            </a:r>
          </a:p>
          <a:p>
            <a:r>
              <a:rPr lang="en-US" sz="1800" dirty="0">
                <a:latin typeface="+mn-lt"/>
              </a:rPr>
              <a:t>Understand impact before change</a:t>
            </a:r>
          </a:p>
          <a:p>
            <a:r>
              <a:rPr lang="en-US" sz="1800" dirty="0">
                <a:latin typeface="+mn-lt"/>
              </a:rPr>
              <a:t>Modernize with greater confidence</a:t>
            </a:r>
          </a:p>
          <a:p>
            <a:endParaRPr lang="en-US" sz="1800" dirty="0">
              <a:latin typeface="+mn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D5538C-000D-792A-D337-B3F12935AE78}"/>
              </a:ext>
            </a:extLst>
          </p:cNvPr>
          <p:cNvSpPr txBox="1">
            <a:spLocks/>
          </p:cNvSpPr>
          <p:nvPr/>
        </p:nvSpPr>
        <p:spPr>
          <a:xfrm>
            <a:off x="8315392" y="3599320"/>
            <a:ext cx="3273480" cy="25577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EA6331"/>
              </a:buClr>
              <a:buSzPct val="120000"/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anose="00000500000000000000" pitchFamily="2" charset="-34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1" kern="1200">
                <a:solidFill>
                  <a:schemeClr val="bg2">
                    <a:lumMod val="90000"/>
                  </a:schemeClr>
                </a:solidFill>
                <a:latin typeface="Prompt" panose="00000500000000000000" pitchFamily="2" charset="-34"/>
                <a:ea typeface="Source Sans Pro Light" panose="020B0403030403020204" pitchFamily="34" charset="0"/>
                <a:cs typeface="Prompt" pitchFamily="2" charset="-34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2">
                    <a:lumMod val="75000"/>
                  </a:schemeClr>
                </a:solidFill>
                <a:latin typeface="Prompt" panose="00000500000000000000" pitchFamily="2" charset="-34"/>
                <a:ea typeface="Source Sans Pro" panose="020B0503030403020204" pitchFamily="34" charset="0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Actionable Outcomes</a:t>
            </a:r>
          </a:p>
          <a:p>
            <a:r>
              <a:rPr lang="en-US" sz="1800" dirty="0">
                <a:latin typeface="+mn-lt"/>
              </a:rPr>
              <a:t>Convert analysis into backlog items</a:t>
            </a:r>
          </a:p>
          <a:p>
            <a:r>
              <a:rPr lang="en-US" sz="1800" dirty="0">
                <a:latin typeface="+mn-lt"/>
              </a:rPr>
              <a:t>Accelerate 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1CD05-4E15-89E0-3B5A-6B46F25B43C3}"/>
              </a:ext>
            </a:extLst>
          </p:cNvPr>
          <p:cNvSpPr txBox="1"/>
          <p:nvPr/>
        </p:nvSpPr>
        <p:spPr>
          <a:xfrm>
            <a:off x="1637211" y="6166581"/>
            <a:ext cx="10014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Context-aware AI helps organizations move from understanding technical debt to taking action.</a:t>
            </a:r>
            <a:endParaRPr lang="en-US" sz="2000" b="1" dirty="0">
              <a:solidFill>
                <a:schemeClr val="bg1"/>
              </a:solidFill>
              <a:latin typeface="Archivo" pitchFamily="2" charset="77"/>
              <a:cs typeface="Archivo" pitchFamily="2" charset="77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9A1212F-9198-CF57-6E3D-FEB041195639}"/>
              </a:ext>
            </a:extLst>
          </p:cNvPr>
          <p:cNvSpPr txBox="1">
            <a:spLocks/>
          </p:cNvSpPr>
          <p:nvPr/>
        </p:nvSpPr>
        <p:spPr>
          <a:xfrm>
            <a:off x="329184" y="6350268"/>
            <a:ext cx="51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AAD4930F-C0A8-4B41-B11A-B03B56213C15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odeLogic-New">
      <a:dk1>
        <a:srgbClr val="0B1D64"/>
      </a:dk1>
      <a:lt1>
        <a:srgbClr val="FFFFFF"/>
      </a:lt1>
      <a:dk2>
        <a:srgbClr val="5B5B5B"/>
      </a:dk2>
      <a:lt2>
        <a:srgbClr val="EFF0F3"/>
      </a:lt2>
      <a:accent1>
        <a:srgbClr val="DB28A3"/>
      </a:accent1>
      <a:accent2>
        <a:srgbClr val="282899"/>
      </a:accent2>
      <a:accent3>
        <a:srgbClr val="1EBA7E"/>
      </a:accent3>
      <a:accent4>
        <a:srgbClr val="F6AE01"/>
      </a:accent4>
      <a:accent5>
        <a:srgbClr val="AD00FA"/>
      </a:accent5>
      <a:accent6>
        <a:srgbClr val="EA6330"/>
      </a:accent6>
      <a:hlink>
        <a:srgbClr val="EA6330"/>
      </a:hlink>
      <a:folHlink>
        <a:srgbClr val="AAAAA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4AC465-669B-4349-804C-2B1DFAC39489}" vid="{5BC196D0-F99D-5D48-B7BA-52A110A44A4E}"/>
    </a:ext>
  </a:extLst>
</a:theme>
</file>

<file path=ppt/theme/theme2.xml><?xml version="1.0" encoding="utf-8"?>
<a:theme xmlns:a="http://schemas.openxmlformats.org/drawingml/2006/main" name="2_Office Theme">
  <a:themeElements>
    <a:clrScheme name="CodeLogic-New">
      <a:dk1>
        <a:srgbClr val="0B1D64"/>
      </a:dk1>
      <a:lt1>
        <a:srgbClr val="FFFFFF"/>
      </a:lt1>
      <a:dk2>
        <a:srgbClr val="5B5B5B"/>
      </a:dk2>
      <a:lt2>
        <a:srgbClr val="EFF0F3"/>
      </a:lt2>
      <a:accent1>
        <a:srgbClr val="DB28A3"/>
      </a:accent1>
      <a:accent2>
        <a:srgbClr val="282899"/>
      </a:accent2>
      <a:accent3>
        <a:srgbClr val="1EBA7E"/>
      </a:accent3>
      <a:accent4>
        <a:srgbClr val="F6AE01"/>
      </a:accent4>
      <a:accent5>
        <a:srgbClr val="AD00FA"/>
      </a:accent5>
      <a:accent6>
        <a:srgbClr val="EA6330"/>
      </a:accent6>
      <a:hlink>
        <a:srgbClr val="EA6330"/>
      </a:hlink>
      <a:folHlink>
        <a:srgbClr val="AAAAA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4AC465-669B-4349-804C-2B1DFAC39489}" vid="{5BC196D0-F99D-5D48-B7BA-52A110A44A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deLogic-New">
    <a:dk1>
      <a:srgbClr val="0B1D64"/>
    </a:dk1>
    <a:lt1>
      <a:srgbClr val="FFFFFF"/>
    </a:lt1>
    <a:dk2>
      <a:srgbClr val="5B5B5B"/>
    </a:dk2>
    <a:lt2>
      <a:srgbClr val="EFF0F3"/>
    </a:lt2>
    <a:accent1>
      <a:srgbClr val="DB28A3"/>
    </a:accent1>
    <a:accent2>
      <a:srgbClr val="282899"/>
    </a:accent2>
    <a:accent3>
      <a:srgbClr val="1EBA7E"/>
    </a:accent3>
    <a:accent4>
      <a:srgbClr val="F6AE01"/>
    </a:accent4>
    <a:accent5>
      <a:srgbClr val="AD00FA"/>
    </a:accent5>
    <a:accent6>
      <a:srgbClr val="EA6330"/>
    </a:accent6>
    <a:hlink>
      <a:srgbClr val="EA6330"/>
    </a:hlink>
    <a:folHlink>
      <a:srgbClr val="AAAAAA"/>
    </a:folHlink>
  </a:clrScheme>
</a:themeOverride>
</file>

<file path=ppt/theme/themeOverride2.xml><?xml version="1.0" encoding="utf-8"?>
<a:themeOverride xmlns:a="http://schemas.openxmlformats.org/drawingml/2006/main">
  <a:clrScheme name="CodeLogic-New">
    <a:dk1>
      <a:srgbClr val="0B1D64"/>
    </a:dk1>
    <a:lt1>
      <a:srgbClr val="FFFFFF"/>
    </a:lt1>
    <a:dk2>
      <a:srgbClr val="5B5B5B"/>
    </a:dk2>
    <a:lt2>
      <a:srgbClr val="EFF0F3"/>
    </a:lt2>
    <a:accent1>
      <a:srgbClr val="DB28A3"/>
    </a:accent1>
    <a:accent2>
      <a:srgbClr val="282899"/>
    </a:accent2>
    <a:accent3>
      <a:srgbClr val="1EBA7E"/>
    </a:accent3>
    <a:accent4>
      <a:srgbClr val="F6AE01"/>
    </a:accent4>
    <a:accent5>
      <a:srgbClr val="AD00FA"/>
    </a:accent5>
    <a:accent6>
      <a:srgbClr val="EA6330"/>
    </a:accent6>
    <a:hlink>
      <a:srgbClr val="EA6330"/>
    </a:hlink>
    <a:folHlink>
      <a:srgbClr val="AAAAA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7dfdd8-5e5b-43ce-85e9-a0976975050b" xsi:nil="true"/>
    <lcf76f155ced4ddcb4097134ff3c332f xmlns="5cbda77d-0aff-4426-a815-e773ceab9528">
      <Terms xmlns="http://schemas.microsoft.com/office/infopath/2007/PartnerControls"/>
    </lcf76f155ced4ddcb4097134ff3c332f>
    <Notes xmlns="5cbda77d-0aff-4426-a815-e773ceab9528">Updated installation requirements</Notes>
    <Thumbnail xmlns="5cbda77d-0aff-4426-a815-e773ceab952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14D97158FAA49B60B4A51F732D117" ma:contentTypeVersion="21" ma:contentTypeDescription="Create a new document." ma:contentTypeScope="" ma:versionID="a6c4242801c18d19d26e27aa6586c8f0">
  <xsd:schema xmlns:xsd="http://www.w3.org/2001/XMLSchema" xmlns:xs="http://www.w3.org/2001/XMLSchema" xmlns:p="http://schemas.microsoft.com/office/2006/metadata/properties" xmlns:ns2="237dfdd8-5e5b-43ce-85e9-a0976975050b" xmlns:ns3="5cbda77d-0aff-4426-a815-e773ceab9528" targetNamespace="http://schemas.microsoft.com/office/2006/metadata/properties" ma:root="true" ma:fieldsID="54505fad9434b8f3f4bf0db4d10ce5a3" ns2:_="" ns3:_="">
    <xsd:import namespace="237dfdd8-5e5b-43ce-85e9-a0976975050b"/>
    <xsd:import namespace="5cbda77d-0aff-4426-a815-e773ceab95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Notes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Thumbnail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7dfdd8-5e5b-43ce-85e9-a0976975050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6f61516f-207f-4aa6-8100-07f336e4c850}" ma:internalName="TaxCatchAll" ma:showField="CatchAllData" ma:web="237dfdd8-5e5b-43ce-85e9-a097697505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da77d-0aff-4426-a815-e773ceab95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s" ma:index="14" ma:displayName="Notes" ma:default="Updated installation requirements" ma:format="Dropdown" ma:internalName="Notes">
      <xsd:simpleType>
        <xsd:restriction base="dms:Text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Thumbnail" ma:index="22" nillable="true" ma:displayName="Thumbnail" ma:format="Thumbnail" ma:internalName="Thumbnail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84a467fc-523b-4525-b15d-45961f0b18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99ACE7-59D8-4D26-A6BE-3FCBFEC19081}">
  <ds:schemaRefs>
    <ds:schemaRef ds:uri="237dfdd8-5e5b-43ce-85e9-a0976975050b"/>
    <ds:schemaRef ds:uri="5cbda77d-0aff-4426-a815-e773ceab95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226CBA-5C31-42AE-8689-8D9E83BD58B2}">
  <ds:schemaRefs>
    <ds:schemaRef ds:uri="237dfdd8-5e5b-43ce-85e9-a0976975050b"/>
    <ds:schemaRef ds:uri="5cbda77d-0aff-4426-a815-e773ceab95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584AA0-06ED-42B0-9932-C4CEFD7CFE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3178</TotalTime>
  <Words>445</Words>
  <Application>Microsoft Macintosh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Archivo</vt:lpstr>
      <vt:lpstr>Arial</vt:lpstr>
      <vt:lpstr>Calibri</vt:lpstr>
      <vt:lpstr>Prompt</vt:lpstr>
      <vt:lpstr>Wingdings</vt:lpstr>
      <vt:lpstr>1_Office Theme</vt:lpstr>
      <vt:lpstr>2_Office Theme</vt:lpstr>
      <vt:lpstr>PowerPoint Presentation</vt:lpstr>
      <vt:lpstr>Enterprise Modernization Challenges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Kevin Walsh</dc:creator>
  <cp:lastModifiedBy>Cary Seiberling</cp:lastModifiedBy>
  <cp:revision>24</cp:revision>
  <cp:lastPrinted>2023-06-22T21:02:24Z</cp:lastPrinted>
  <dcterms:created xsi:type="dcterms:W3CDTF">2022-04-12T22:39:06Z</dcterms:created>
  <dcterms:modified xsi:type="dcterms:W3CDTF">2026-06-24T19:00:33Z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0x0101009FE14D97158FAA49B60B4A51F732D117</vt:lpwstr>
  </property>
  <property fmtid="{D5CDD505-2E9C-101B-9397-08002B2CF9AE}" pid="3" name="Notes">
    <vt:lpwstr>Updated installation requirements</vt:lpwstr>
  </property>
  <property fmtid="{D5CDD505-2E9C-101B-9397-08002B2CF9AE}" pid="4" name="MediaServiceImageTags">
    <vt:lpwstr/>
  </property>
</Properties>
</file>